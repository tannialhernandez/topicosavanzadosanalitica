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Nunito"/>
      <p:regular r:id="rId36"/>
      <p:bold r:id="rId37"/>
      <p:italic r:id="rId38"/>
      <p:boldItalic r:id="rId39"/>
    </p:embeddedFont>
    <p:embeddedFont>
      <p:font typeface="Maven Pro"/>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avenPro-regular.fntdata"/><Relationship Id="rId20" Type="http://schemas.openxmlformats.org/officeDocument/2006/relationships/slide" Target="slides/slide15.xml"/><Relationship Id="rId41" Type="http://schemas.openxmlformats.org/officeDocument/2006/relationships/font" Target="fonts/MavenPro-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Nunito-bold.fntdata"/><Relationship Id="rId14" Type="http://schemas.openxmlformats.org/officeDocument/2006/relationships/slide" Target="slides/slide9.xml"/><Relationship Id="rId36" Type="http://schemas.openxmlformats.org/officeDocument/2006/relationships/font" Target="fonts/Nunito-regular.fntdata"/><Relationship Id="rId17" Type="http://schemas.openxmlformats.org/officeDocument/2006/relationships/slide" Target="slides/slide12.xml"/><Relationship Id="rId39" Type="http://schemas.openxmlformats.org/officeDocument/2006/relationships/font" Target="fonts/Nunito-boldItalic.fntdata"/><Relationship Id="rId16" Type="http://schemas.openxmlformats.org/officeDocument/2006/relationships/slide" Target="slides/slide11.xml"/><Relationship Id="rId38" Type="http://schemas.openxmlformats.org/officeDocument/2006/relationships/font" Target="fonts/Nuni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446170ab9e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446170ab9e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446170ab9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446170ab9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446170ab9e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446170ab9e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446170ab9e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446170ab9e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446170ab9e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446170ab9e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446170ab9e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446170ab9e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446170ab9e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446170ab9e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446170ab9e_4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446170ab9e_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446170ab9e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446170ab9e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446170ab9e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446170ab9e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446578cc1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446578cc15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446170ab9e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446170ab9e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447640288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447640288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447640288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447640288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447640288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447640288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447640288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447640288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446170ab9e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446170ab9e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47640288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47640288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447640288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447640288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447640288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447640288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447640288b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447640288b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446170ab9e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446170ab9e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447640288b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447640288b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447640288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447640288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447640288b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447640288b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447640288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447640288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447640288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447640288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447640288b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447640288b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447640288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447640288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sergiomora03/AdvancedTopicsAnalytics/raw/main/datasets/data_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7.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25"/>
            <a:ext cx="53532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TÓPICOS AVANZADOS EN ANALÍTICA</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935"/>
              <a:buNone/>
            </a:pPr>
            <a:r>
              <a:rPr lang="es" sz="1560"/>
              <a:t>Luis Frontuso Garces</a:t>
            </a:r>
            <a:endParaRPr sz="1560"/>
          </a:p>
          <a:p>
            <a:pPr indent="0" lvl="0" marL="0" rtl="0" algn="l">
              <a:lnSpc>
                <a:spcPct val="80000"/>
              </a:lnSpc>
              <a:spcBef>
                <a:spcPts val="0"/>
              </a:spcBef>
              <a:spcAft>
                <a:spcPts val="0"/>
              </a:spcAft>
              <a:buSzPts val="935"/>
              <a:buNone/>
            </a:pPr>
            <a:r>
              <a:rPr lang="es" sz="1560"/>
              <a:t>Miguel Humberto Zuñiga Paredes</a:t>
            </a:r>
            <a:endParaRPr sz="1560"/>
          </a:p>
          <a:p>
            <a:pPr indent="0" lvl="0" marL="0" rtl="0" algn="l">
              <a:lnSpc>
                <a:spcPct val="80000"/>
              </a:lnSpc>
              <a:spcBef>
                <a:spcPts val="0"/>
              </a:spcBef>
              <a:spcAft>
                <a:spcPts val="0"/>
              </a:spcAft>
              <a:buSzPts val="935"/>
              <a:buNone/>
            </a:pPr>
            <a:r>
              <a:rPr lang="es" sz="1560"/>
              <a:t>Tannia Lucía Hernández Rojas</a:t>
            </a:r>
            <a:endParaRPr sz="156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Frailejon Detection (a.k.a "Big Monks Detection")</a:t>
            </a:r>
            <a:endParaRPr/>
          </a:p>
        </p:txBody>
      </p:sp>
      <p:sp>
        <p:nvSpPr>
          <p:cNvPr id="284" name="Google Shape;284;p1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
              <a:t>Business Problem </a:t>
            </a:r>
            <a:r>
              <a:rPr lang="es"/>
              <a:t>Framing</a:t>
            </a:r>
            <a:r>
              <a:rPr lang="es"/>
              <a:t>: Este caso de estudio hace parte de un proyecto de Ingeniería que busca preservar y monitorizar el ecosistema del páramo, de gran importancia por su potencial hídrico, mediante la propuesta de una metodología para la reconstrucción del ecosistema en zonas de baja densidad de poblaciones de la </a:t>
            </a:r>
            <a:r>
              <a:rPr lang="es"/>
              <a:t>especie</a:t>
            </a:r>
            <a:r>
              <a:rPr lang="es"/>
              <a:t> Espeletia.</a:t>
            </a:r>
            <a:endParaRPr/>
          </a:p>
        </p:txBody>
      </p:sp>
      <p:pic>
        <p:nvPicPr>
          <p:cNvPr id="285" name="Google Shape;285;p14" title="QSCGUYTLLREXHJOXSLONEEODKM-removebg-preview.png"/>
          <p:cNvPicPr preferRelativeResize="0"/>
          <p:nvPr/>
        </p:nvPicPr>
        <p:blipFill rotWithShape="1">
          <a:blip r:embed="rId3">
            <a:alphaModFix/>
          </a:blip>
          <a:srcRect b="0" l="6112" r="7426" t="0"/>
          <a:stretch/>
        </p:blipFill>
        <p:spPr>
          <a:xfrm>
            <a:off x="5808850" y="2571750"/>
            <a:ext cx="3335151" cy="2478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CLASIFICACIÓN DE IMÁGENES CON REDES NEURONALES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Data</a:t>
            </a:r>
            <a:endParaRPr/>
          </a:p>
        </p:txBody>
      </p:sp>
      <p:sp>
        <p:nvSpPr>
          <p:cNvPr id="296" name="Google Shape;296;p16"/>
          <p:cNvSpPr txBox="1"/>
          <p:nvPr>
            <p:ph idx="1" type="body"/>
          </p:nvPr>
        </p:nvSpPr>
        <p:spPr>
          <a:xfrm>
            <a:off x="1303800" y="1621775"/>
            <a:ext cx="7030500" cy="2541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s" sz="1600"/>
              <a:t>Fuente: </a:t>
            </a:r>
            <a:r>
              <a:rPr lang="es" sz="1600" u="sng">
                <a:solidFill>
                  <a:schemeClr val="hlink"/>
                </a:solidFill>
                <a:hlinkClick r:id="rId3"/>
              </a:rPr>
              <a:t>https://github.com/sergiomora03/AdvancedTopicsAnalytics/raw/main/datasets/data_F</a:t>
            </a:r>
            <a:endParaRPr sz="1600"/>
          </a:p>
          <a:p>
            <a:pPr indent="-330200" lvl="0" marL="457200" rtl="0" algn="l">
              <a:spcBef>
                <a:spcPts val="0"/>
              </a:spcBef>
              <a:spcAft>
                <a:spcPts val="0"/>
              </a:spcAft>
              <a:buSzPts val="1600"/>
              <a:buChar char="-"/>
            </a:pPr>
            <a:r>
              <a:rPr lang="es" sz="1600"/>
              <a:t>Número de imágenes originales: </a:t>
            </a:r>
            <a:endParaRPr sz="1600"/>
          </a:p>
          <a:p>
            <a:pPr indent="-317500" lvl="1" marL="914400" rtl="0" algn="l">
              <a:spcBef>
                <a:spcPts val="0"/>
              </a:spcBef>
              <a:spcAft>
                <a:spcPts val="0"/>
              </a:spcAft>
              <a:buSzPts val="1400"/>
              <a:buChar char="-"/>
            </a:pPr>
            <a:r>
              <a:rPr lang="es" sz="1400"/>
              <a:t>Frailejón</a:t>
            </a:r>
            <a:r>
              <a:rPr lang="es" sz="1400"/>
              <a:t>: 21 </a:t>
            </a:r>
            <a:endParaRPr sz="1400"/>
          </a:p>
          <a:p>
            <a:pPr indent="-317500" lvl="1" marL="914400" rtl="0" algn="l">
              <a:spcBef>
                <a:spcPts val="0"/>
              </a:spcBef>
              <a:spcAft>
                <a:spcPts val="0"/>
              </a:spcAft>
              <a:buSzPts val="1400"/>
              <a:buChar char="-"/>
            </a:pPr>
            <a:r>
              <a:rPr lang="es" sz="1400"/>
              <a:t>No Frailejón: 29</a:t>
            </a:r>
            <a:endParaRPr sz="1400"/>
          </a:p>
          <a:p>
            <a:pPr indent="-330200" lvl="0" marL="457200" rtl="0" algn="l">
              <a:spcBef>
                <a:spcPts val="0"/>
              </a:spcBef>
              <a:spcAft>
                <a:spcPts val="0"/>
              </a:spcAft>
              <a:buSzPts val="1600"/>
              <a:buChar char="-"/>
            </a:pPr>
            <a:r>
              <a:rPr lang="es" sz="1600"/>
              <a:t>Dimensiones: 100x100</a:t>
            </a:r>
            <a:endParaRPr sz="1600"/>
          </a:p>
          <a:p>
            <a:pPr indent="-330200" lvl="0" marL="457200" rtl="0" algn="l">
              <a:spcBef>
                <a:spcPts val="0"/>
              </a:spcBef>
              <a:spcAft>
                <a:spcPts val="0"/>
              </a:spcAft>
              <a:buSzPts val="1600"/>
              <a:buChar char="-"/>
            </a:pPr>
            <a:r>
              <a:rPr lang="es" sz="1600"/>
              <a:t>Modelo de color: RGB</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RED NEURONAL SENCILLA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Procesamiento de las im</a:t>
            </a:r>
            <a:r>
              <a:rPr lang="es"/>
              <a:t>ágenes</a:t>
            </a:r>
            <a:endParaRPr/>
          </a:p>
        </p:txBody>
      </p:sp>
      <p:sp>
        <p:nvSpPr>
          <p:cNvPr id="307" name="Google Shape;307;p18"/>
          <p:cNvSpPr txBox="1"/>
          <p:nvPr>
            <p:ph idx="1" type="body"/>
          </p:nvPr>
        </p:nvSpPr>
        <p:spPr>
          <a:xfrm>
            <a:off x="1303800" y="1597875"/>
            <a:ext cx="7030500" cy="2764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1200">
                <a:solidFill>
                  <a:srgbClr val="374151"/>
                </a:solidFill>
                <a:highlight>
                  <a:srgbClr val="FFFFFF"/>
                </a:highlight>
                <a:latin typeface="Arial"/>
                <a:ea typeface="Arial"/>
                <a:cs typeface="Arial"/>
                <a:sym typeface="Arial"/>
              </a:rPr>
              <a:t>Función: import_imagenes()</a:t>
            </a:r>
            <a:endParaRPr sz="1200">
              <a:solidFill>
                <a:srgbClr val="374151"/>
              </a:solidFill>
              <a:highlight>
                <a:srgbClr val="FFFFFF"/>
              </a:highlight>
              <a:latin typeface="Arial"/>
              <a:ea typeface="Arial"/>
              <a:cs typeface="Arial"/>
              <a:sym typeface="Arial"/>
            </a:endParaRPr>
          </a:p>
          <a:p>
            <a:pPr indent="-304800" lvl="0" marL="457200" rtl="0" algn="l">
              <a:spcBef>
                <a:spcPts val="120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Aplanamiento: cada imagen se convierte en un vector unidimensional</a:t>
            </a:r>
            <a:endParaRPr sz="1200">
              <a:solidFill>
                <a:srgbClr val="374151"/>
              </a:solidFill>
              <a:highlight>
                <a:srgbClr val="FFFFFF"/>
              </a:highlight>
              <a:latin typeface="Arial"/>
              <a:ea typeface="Arial"/>
              <a:cs typeface="Arial"/>
              <a:sym typeface="Arial"/>
            </a:endParaRPr>
          </a:p>
          <a:p>
            <a:pPr indent="-304800" lvl="0" marL="457200" rtl="0" algn="l">
              <a:spcBef>
                <a:spcPts val="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Normalización: </a:t>
            </a:r>
            <a:r>
              <a:rPr lang="es" sz="1200">
                <a:solidFill>
                  <a:srgbClr val="374151"/>
                </a:solidFill>
                <a:highlight>
                  <a:srgbClr val="FFFFFF"/>
                </a:highlight>
                <a:latin typeface="Arial"/>
                <a:ea typeface="Arial"/>
                <a:cs typeface="Arial"/>
                <a:sym typeface="Arial"/>
              </a:rPr>
              <a:t>normalizar</a:t>
            </a:r>
            <a:r>
              <a:rPr lang="es" sz="1200">
                <a:solidFill>
                  <a:srgbClr val="374151"/>
                </a:solidFill>
                <a:highlight>
                  <a:srgbClr val="FFFFFF"/>
                </a:highlight>
                <a:latin typeface="Arial"/>
                <a:ea typeface="Arial"/>
                <a:cs typeface="Arial"/>
                <a:sym typeface="Arial"/>
              </a:rPr>
              <a:t> los datos de las imágenes dividiéndolos por 255 para que estén en el rango [0, 1].</a:t>
            </a:r>
            <a:endParaRPr sz="1200">
              <a:solidFill>
                <a:srgbClr val="374151"/>
              </a:solidFill>
              <a:highlight>
                <a:srgbClr val="FFFFFF"/>
              </a:highlight>
              <a:latin typeface="Arial"/>
              <a:ea typeface="Arial"/>
              <a:cs typeface="Arial"/>
              <a:sym typeface="Arial"/>
            </a:endParaRPr>
          </a:p>
          <a:p>
            <a:pPr indent="-304800" lvl="0" marL="457200" rtl="0" algn="l">
              <a:spcBef>
                <a:spcPts val="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Etiquetas: Crea un vector de etiquetas CT_y que contiene 1 para las imágenes de "Frailejón" y 0 para las imágenes de "No Frailejón".</a:t>
            </a:r>
            <a:endParaRPr sz="1200">
              <a:solidFill>
                <a:srgbClr val="374151"/>
              </a:solidFill>
              <a:highlight>
                <a:srgbClr val="FFFFFF"/>
              </a:highlight>
              <a:latin typeface="Arial"/>
              <a:ea typeface="Arial"/>
              <a:cs typeface="Arial"/>
              <a:sym typeface="Arial"/>
            </a:endParaRPr>
          </a:p>
          <a:p>
            <a:pPr indent="-304800" lvl="0" marL="457200" rtl="0" algn="just">
              <a:spcBef>
                <a:spcPts val="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Se obtiene de la función:</a:t>
            </a:r>
            <a:endParaRPr sz="1200">
              <a:solidFill>
                <a:srgbClr val="374151"/>
              </a:solidFill>
              <a:highlight>
                <a:srgbClr val="FFFFFF"/>
              </a:highlight>
              <a:latin typeface="Arial"/>
              <a:ea typeface="Arial"/>
              <a:cs typeface="Arial"/>
              <a:sym typeface="Arial"/>
            </a:endParaRPr>
          </a:p>
          <a:p>
            <a:pPr indent="-304800" lvl="1" marL="914400" rtl="0" algn="l">
              <a:spcBef>
                <a:spcPts val="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CT_xn: Un array de NumPy de las imágenes normalizadas con forma (n_features, n_samples), donde n_features es igual al número de características aplanadas (por ejemplo, 14700 para imágenes de 70x70 con 3 canales).</a:t>
            </a:r>
            <a:endParaRPr sz="1200">
              <a:solidFill>
                <a:srgbClr val="374151"/>
              </a:solidFill>
              <a:highlight>
                <a:srgbClr val="FFFFFF"/>
              </a:highlight>
              <a:latin typeface="Arial"/>
              <a:ea typeface="Arial"/>
              <a:cs typeface="Arial"/>
              <a:sym typeface="Arial"/>
            </a:endParaRPr>
          </a:p>
          <a:p>
            <a:pPr indent="-304800" lvl="1" marL="914400" rtl="0" algn="l">
              <a:spcBef>
                <a:spcPts val="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CT_y: Un array de NumPy que sirve como etiquetas para clasificación binaria, con forma (1, n_samples).</a:t>
            </a:r>
            <a:endParaRPr sz="1200">
              <a:solidFill>
                <a:srgbClr val="374151"/>
              </a:solidFill>
              <a:highlight>
                <a:srgbClr val="FFFFFF"/>
              </a:highlight>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Definici</a:t>
            </a:r>
            <a:r>
              <a:rPr lang="es"/>
              <a:t>ón</a:t>
            </a:r>
            <a:r>
              <a:rPr lang="es"/>
              <a:t> del modelo</a:t>
            </a:r>
            <a:endParaRPr/>
          </a:p>
        </p:txBody>
      </p:sp>
      <p:pic>
        <p:nvPicPr>
          <p:cNvPr id="313" name="Google Shape;313;p19"/>
          <p:cNvPicPr preferRelativeResize="0"/>
          <p:nvPr/>
        </p:nvPicPr>
        <p:blipFill>
          <a:blip r:embed="rId3">
            <a:alphaModFix/>
          </a:blip>
          <a:stretch>
            <a:fillRect/>
          </a:stretch>
        </p:blipFill>
        <p:spPr>
          <a:xfrm>
            <a:off x="5590000" y="807825"/>
            <a:ext cx="2257224" cy="2256077"/>
          </a:xfrm>
          <a:prstGeom prst="rect">
            <a:avLst/>
          </a:prstGeom>
          <a:noFill/>
          <a:ln>
            <a:noFill/>
          </a:ln>
        </p:spPr>
      </p:pic>
      <p:pic>
        <p:nvPicPr>
          <p:cNvPr id="314" name="Google Shape;314;p19"/>
          <p:cNvPicPr preferRelativeResize="0"/>
          <p:nvPr/>
        </p:nvPicPr>
        <p:blipFill>
          <a:blip r:embed="rId4">
            <a:alphaModFix/>
          </a:blip>
          <a:stretch>
            <a:fillRect/>
          </a:stretch>
        </p:blipFill>
        <p:spPr>
          <a:xfrm>
            <a:off x="1435175" y="1469186"/>
            <a:ext cx="3063875" cy="933350"/>
          </a:xfrm>
          <a:prstGeom prst="rect">
            <a:avLst/>
          </a:prstGeom>
          <a:noFill/>
          <a:ln>
            <a:noFill/>
          </a:ln>
        </p:spPr>
      </p:pic>
      <p:pic>
        <p:nvPicPr>
          <p:cNvPr id="315" name="Google Shape;315;p19"/>
          <p:cNvPicPr preferRelativeResize="0"/>
          <p:nvPr/>
        </p:nvPicPr>
        <p:blipFill>
          <a:blip r:embed="rId5">
            <a:alphaModFix/>
          </a:blip>
          <a:stretch>
            <a:fillRect/>
          </a:stretch>
        </p:blipFill>
        <p:spPr>
          <a:xfrm>
            <a:off x="1435175" y="3251775"/>
            <a:ext cx="7075051" cy="999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Funciones</a:t>
            </a:r>
            <a:r>
              <a:rPr lang="es"/>
              <a:t> de activación</a:t>
            </a:r>
            <a:endParaRPr/>
          </a:p>
        </p:txBody>
      </p:sp>
      <p:sp>
        <p:nvSpPr>
          <p:cNvPr id="321" name="Google Shape;321;p20"/>
          <p:cNvSpPr txBox="1"/>
          <p:nvPr>
            <p:ph idx="1" type="body"/>
          </p:nvPr>
        </p:nvSpPr>
        <p:spPr>
          <a:xfrm>
            <a:off x="1303800" y="1449925"/>
            <a:ext cx="7030500" cy="30357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s"/>
              <a:t>RELU: </a:t>
            </a:r>
            <a:endParaRPr/>
          </a:p>
          <a:p>
            <a:pPr indent="-304800" lvl="0" marL="558800" rtl="0" algn="just">
              <a:spcBef>
                <a:spcPts val="150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Eficiencia: Permite que el modelo aprenda rápidamente, ya que no se satura para valores positivos. Esto agiliza el entrenamiento.</a:t>
            </a:r>
            <a:endParaRPr sz="1200">
              <a:solidFill>
                <a:srgbClr val="374151"/>
              </a:solidFill>
              <a:highlight>
                <a:srgbClr val="FFFFFF"/>
              </a:highlight>
              <a:latin typeface="Arial"/>
              <a:ea typeface="Arial"/>
              <a:cs typeface="Arial"/>
              <a:sym typeface="Arial"/>
            </a:endParaRPr>
          </a:p>
          <a:p>
            <a:pPr indent="-304800" lvl="0" marL="558800" rtl="0" algn="just">
              <a:spcBef>
                <a:spcPts val="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Simplicidad: Su forma matemática es simple y fácil de calcular.</a:t>
            </a:r>
            <a:endParaRPr sz="1200">
              <a:solidFill>
                <a:srgbClr val="374151"/>
              </a:solidFill>
              <a:highlight>
                <a:srgbClr val="FFFFFF"/>
              </a:highlight>
              <a:latin typeface="Arial"/>
              <a:ea typeface="Arial"/>
              <a:cs typeface="Arial"/>
              <a:sym typeface="Arial"/>
            </a:endParaRPr>
          </a:p>
          <a:p>
            <a:pPr indent="-304800" lvl="0" marL="558800" rtl="0" algn="just">
              <a:spcBef>
                <a:spcPts val="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Captura No Linealidades: Ayuda a modelar relaciones no lineales en los datos, lo cual es crucial para la clasificación.</a:t>
            </a:r>
            <a:endParaRPr sz="1200">
              <a:solidFill>
                <a:srgbClr val="374151"/>
              </a:solidFill>
              <a:highlight>
                <a:srgbClr val="FFFFFF"/>
              </a:highlight>
              <a:latin typeface="Arial"/>
              <a:ea typeface="Arial"/>
              <a:cs typeface="Arial"/>
              <a:sym typeface="Arial"/>
            </a:endParaRPr>
          </a:p>
          <a:p>
            <a:pPr indent="0" lvl="0" marL="0" rtl="0" algn="just">
              <a:spcBef>
                <a:spcPts val="2100"/>
              </a:spcBef>
              <a:spcAft>
                <a:spcPts val="0"/>
              </a:spcAft>
              <a:buNone/>
            </a:pPr>
            <a:r>
              <a:rPr lang="es"/>
              <a:t>SIGMOID:</a:t>
            </a:r>
            <a:endParaRPr/>
          </a:p>
          <a:p>
            <a:pPr indent="-304800" lvl="0" marL="558800" rtl="0" algn="just">
              <a:spcBef>
                <a:spcPts val="150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Salida como Probabilidad: Proporciona un valor entre 0 y 1, permitiendo interpretar la salida como una probabilidad de pertenencia a la clase "frailejón" (1) o "no frailejón" (0).</a:t>
            </a:r>
            <a:endParaRPr sz="1200">
              <a:solidFill>
                <a:srgbClr val="374151"/>
              </a:solidFill>
              <a:highlight>
                <a:srgbClr val="FFFFFF"/>
              </a:highlight>
              <a:latin typeface="Arial"/>
              <a:ea typeface="Arial"/>
              <a:cs typeface="Arial"/>
              <a:sym typeface="Arial"/>
            </a:endParaRPr>
          </a:p>
          <a:p>
            <a:pPr indent="-304800" lvl="0" marL="558800" rtl="0" algn="just">
              <a:spcBef>
                <a:spcPts val="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Clasificación Binaria: Es ideal para problemas de clasificación binaria y garantiza que la salida esté en el rango esperado para la toma de decisiones.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Optimizaci</a:t>
            </a:r>
            <a:r>
              <a:rPr lang="es"/>
              <a:t>ón y Función de Pérdida</a:t>
            </a:r>
            <a:endParaRPr/>
          </a:p>
        </p:txBody>
      </p:sp>
      <p:sp>
        <p:nvSpPr>
          <p:cNvPr id="327" name="Google Shape;327;p21"/>
          <p:cNvSpPr txBox="1"/>
          <p:nvPr>
            <p:ph idx="1" type="body"/>
          </p:nvPr>
        </p:nvSpPr>
        <p:spPr>
          <a:xfrm>
            <a:off x="1303800" y="1511300"/>
            <a:ext cx="7030500" cy="3158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s"/>
              <a:t>ADAM</a:t>
            </a:r>
            <a:r>
              <a:rPr lang="es"/>
              <a:t>:</a:t>
            </a:r>
            <a:endParaRPr/>
          </a:p>
          <a:p>
            <a:pPr indent="-304800" lvl="0" marL="558800" rtl="0" algn="l">
              <a:spcBef>
                <a:spcPts val="180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Adam ajusta las tasas de aprendizaje en función de las características del modelo, lo que permite que el entrenamiento sea más rápido y eficiente, especialmente útil para imágenes complejas.</a:t>
            </a:r>
            <a:endParaRPr sz="1200">
              <a:solidFill>
                <a:srgbClr val="374151"/>
              </a:solidFill>
              <a:highlight>
                <a:srgbClr val="FFFFFF"/>
              </a:highlight>
              <a:latin typeface="Arial"/>
              <a:ea typeface="Arial"/>
              <a:cs typeface="Arial"/>
              <a:sym typeface="Arial"/>
            </a:endParaRPr>
          </a:p>
          <a:p>
            <a:pPr indent="-304800" lvl="0" marL="558800" rtl="0" algn="l">
              <a:spcBef>
                <a:spcPts val="0"/>
              </a:spcBef>
              <a:spcAft>
                <a:spcPts val="0"/>
              </a:spcAft>
              <a:buClr>
                <a:srgbClr val="374151"/>
              </a:buClr>
              <a:buSzPts val="1200"/>
              <a:buFont typeface="Arial"/>
              <a:buChar char="●"/>
            </a:pPr>
            <a:r>
              <a:rPr lang="es" sz="1200">
                <a:solidFill>
                  <a:srgbClr val="374151"/>
                </a:solidFill>
                <a:highlight>
                  <a:srgbClr val="FFFFFF"/>
                </a:highlight>
                <a:latin typeface="Arial"/>
                <a:ea typeface="Arial"/>
                <a:cs typeface="Arial"/>
                <a:sym typeface="Arial"/>
              </a:rPr>
              <a:t>A diferencia de otros optimizadores como SGD, no requiere tanto ajuste de la tasa de aprendizaje inicial, lo que facilita la configuración y reduce la posibilidad de problemas al inicio del entrenamiento.</a:t>
            </a:r>
            <a:endParaRPr sz="1200">
              <a:solidFill>
                <a:srgbClr val="374151"/>
              </a:solidFill>
              <a:highlight>
                <a:srgbClr val="FFFFFF"/>
              </a:highlight>
              <a:latin typeface="Arial"/>
              <a:ea typeface="Arial"/>
              <a:cs typeface="Arial"/>
              <a:sym typeface="Arial"/>
            </a:endParaRPr>
          </a:p>
          <a:p>
            <a:pPr indent="0" lvl="0" marL="0" rtl="0" algn="l">
              <a:spcBef>
                <a:spcPts val="1800"/>
              </a:spcBef>
              <a:spcAft>
                <a:spcPts val="0"/>
              </a:spcAft>
              <a:buNone/>
            </a:pPr>
            <a:r>
              <a:rPr lang="es"/>
              <a:t>Binay Cross Entropy:</a:t>
            </a:r>
            <a:endParaRPr/>
          </a:p>
          <a:p>
            <a:pPr indent="-311150" lvl="0" marL="457200" rtl="0" algn="l">
              <a:spcBef>
                <a:spcPts val="1200"/>
              </a:spcBef>
              <a:spcAft>
                <a:spcPts val="0"/>
              </a:spcAft>
              <a:buSzPts val="1300"/>
              <a:buChar char="●"/>
            </a:pPr>
            <a:r>
              <a:rPr lang="es" sz="1200">
                <a:solidFill>
                  <a:srgbClr val="374151"/>
                </a:solidFill>
                <a:highlight>
                  <a:srgbClr val="FFFFFF"/>
                </a:highlight>
                <a:latin typeface="Arial"/>
                <a:ea typeface="Arial"/>
                <a:cs typeface="Arial"/>
                <a:sym typeface="Arial"/>
              </a:rPr>
              <a:t>Cross-entropy es específicamente adecuada para problemas donde las salidas son 0 o 1, proporcionando una medida precisa de la discrepancia entre las predicciones del modelo y las etiquetas reales.</a:t>
            </a:r>
            <a:endParaRPr/>
          </a:p>
          <a:p>
            <a:pPr indent="0" lvl="0" marL="0" rtl="0" algn="just">
              <a:spcBef>
                <a:spcPts val="1200"/>
              </a:spcBef>
              <a:spcAft>
                <a:spcPts val="1200"/>
              </a:spcAft>
              <a:buNone/>
            </a:pPr>
            <a:r>
              <a:rPr lang="es"/>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2"/>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Gráfica Pérdida y Precisión durante el Entrenamiento y Validación</a:t>
            </a:r>
            <a:r>
              <a:rPr lang="es"/>
              <a:t> </a:t>
            </a:r>
            <a:endParaRPr/>
          </a:p>
        </p:txBody>
      </p:sp>
      <p:pic>
        <p:nvPicPr>
          <p:cNvPr id="333" name="Google Shape;333;p22"/>
          <p:cNvPicPr preferRelativeResize="0"/>
          <p:nvPr/>
        </p:nvPicPr>
        <p:blipFill>
          <a:blip r:embed="rId3">
            <a:alphaModFix/>
          </a:blip>
          <a:stretch>
            <a:fillRect/>
          </a:stretch>
        </p:blipFill>
        <p:spPr>
          <a:xfrm>
            <a:off x="481050" y="1750275"/>
            <a:ext cx="8181900" cy="288986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3"/>
          <p:cNvSpPr txBox="1"/>
          <p:nvPr>
            <p:ph type="title"/>
          </p:nvPr>
        </p:nvSpPr>
        <p:spPr>
          <a:xfrm>
            <a:off x="1266975" y="451250"/>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Análisis</a:t>
            </a:r>
            <a:r>
              <a:rPr lang="es"/>
              <a:t> Cualitativo con Im</a:t>
            </a:r>
            <a:r>
              <a:rPr lang="es"/>
              <a:t>ágen de Validación</a:t>
            </a:r>
            <a:endParaRPr/>
          </a:p>
        </p:txBody>
      </p:sp>
      <p:pic>
        <p:nvPicPr>
          <p:cNvPr id="339" name="Google Shape;339;p23"/>
          <p:cNvPicPr preferRelativeResize="0"/>
          <p:nvPr/>
        </p:nvPicPr>
        <p:blipFill>
          <a:blip r:embed="rId3">
            <a:alphaModFix/>
          </a:blip>
          <a:stretch>
            <a:fillRect/>
          </a:stretch>
        </p:blipFill>
        <p:spPr>
          <a:xfrm>
            <a:off x="1198125" y="1450550"/>
            <a:ext cx="6747748" cy="345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Matriz de Confusi</a:t>
            </a:r>
            <a:r>
              <a:rPr lang="es"/>
              <a:t>ón</a:t>
            </a:r>
            <a:endParaRPr/>
          </a:p>
        </p:txBody>
      </p:sp>
      <p:pic>
        <p:nvPicPr>
          <p:cNvPr id="345" name="Google Shape;345;p24"/>
          <p:cNvPicPr preferRelativeResize="0"/>
          <p:nvPr/>
        </p:nvPicPr>
        <p:blipFill>
          <a:blip r:embed="rId3">
            <a:alphaModFix/>
          </a:blip>
          <a:stretch>
            <a:fillRect/>
          </a:stretch>
        </p:blipFill>
        <p:spPr>
          <a:xfrm>
            <a:off x="2758275" y="1360075"/>
            <a:ext cx="3710700" cy="33152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5"/>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RED NEURONAL MULTICAPA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Definici</a:t>
            </a:r>
            <a:r>
              <a:rPr lang="es"/>
              <a:t>ón</a:t>
            </a:r>
            <a:r>
              <a:rPr lang="es"/>
              <a:t> del modelo</a:t>
            </a:r>
            <a:endParaRPr/>
          </a:p>
        </p:txBody>
      </p:sp>
      <p:pic>
        <p:nvPicPr>
          <p:cNvPr id="356" name="Google Shape;356;p26"/>
          <p:cNvPicPr preferRelativeResize="0"/>
          <p:nvPr/>
        </p:nvPicPr>
        <p:blipFill>
          <a:blip r:embed="rId3">
            <a:alphaModFix/>
          </a:blip>
          <a:stretch>
            <a:fillRect/>
          </a:stretch>
        </p:blipFill>
        <p:spPr>
          <a:xfrm>
            <a:off x="5565350" y="940175"/>
            <a:ext cx="2768950" cy="1820747"/>
          </a:xfrm>
          <a:prstGeom prst="rect">
            <a:avLst/>
          </a:prstGeom>
          <a:noFill/>
          <a:ln>
            <a:noFill/>
          </a:ln>
        </p:spPr>
      </p:pic>
      <p:pic>
        <p:nvPicPr>
          <p:cNvPr id="357" name="Google Shape;357;p26"/>
          <p:cNvPicPr preferRelativeResize="0"/>
          <p:nvPr/>
        </p:nvPicPr>
        <p:blipFill>
          <a:blip r:embed="rId4">
            <a:alphaModFix/>
          </a:blip>
          <a:stretch>
            <a:fillRect/>
          </a:stretch>
        </p:blipFill>
        <p:spPr>
          <a:xfrm>
            <a:off x="1457975" y="1350900"/>
            <a:ext cx="3114025" cy="1527075"/>
          </a:xfrm>
          <a:prstGeom prst="rect">
            <a:avLst/>
          </a:prstGeom>
          <a:noFill/>
          <a:ln>
            <a:noFill/>
          </a:ln>
        </p:spPr>
      </p:pic>
      <p:pic>
        <p:nvPicPr>
          <p:cNvPr id="358" name="Google Shape;358;p26"/>
          <p:cNvPicPr preferRelativeResize="0"/>
          <p:nvPr/>
        </p:nvPicPr>
        <p:blipFill>
          <a:blip r:embed="rId5">
            <a:alphaModFix/>
          </a:blip>
          <a:stretch>
            <a:fillRect/>
          </a:stretch>
        </p:blipFill>
        <p:spPr>
          <a:xfrm>
            <a:off x="1457975" y="3124950"/>
            <a:ext cx="6797649" cy="1396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Gráfica Pérdida y Precisión durante el Entrenamiento y Validación </a:t>
            </a:r>
            <a:endParaRPr/>
          </a:p>
        </p:txBody>
      </p:sp>
      <p:pic>
        <p:nvPicPr>
          <p:cNvPr id="364" name="Google Shape;364;p27"/>
          <p:cNvPicPr preferRelativeResize="0"/>
          <p:nvPr/>
        </p:nvPicPr>
        <p:blipFill>
          <a:blip r:embed="rId3">
            <a:alphaModFix/>
          </a:blip>
          <a:stretch>
            <a:fillRect/>
          </a:stretch>
        </p:blipFill>
        <p:spPr>
          <a:xfrm>
            <a:off x="558825" y="1680650"/>
            <a:ext cx="8026352" cy="26871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8"/>
          <p:cNvSpPr txBox="1"/>
          <p:nvPr>
            <p:ph type="title"/>
          </p:nvPr>
        </p:nvSpPr>
        <p:spPr>
          <a:xfrm>
            <a:off x="1266975" y="451250"/>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Análisis Cualitativo con Imágen de Validación</a:t>
            </a:r>
            <a:endParaRPr/>
          </a:p>
        </p:txBody>
      </p:sp>
      <p:pic>
        <p:nvPicPr>
          <p:cNvPr id="370" name="Google Shape;370;p28"/>
          <p:cNvPicPr preferRelativeResize="0"/>
          <p:nvPr/>
        </p:nvPicPr>
        <p:blipFill>
          <a:blip r:embed="rId3">
            <a:alphaModFix/>
          </a:blip>
          <a:stretch>
            <a:fillRect/>
          </a:stretch>
        </p:blipFill>
        <p:spPr>
          <a:xfrm>
            <a:off x="1231313" y="1520175"/>
            <a:ext cx="6681376" cy="33881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Matriz de Confusión</a:t>
            </a:r>
            <a:endParaRPr/>
          </a:p>
        </p:txBody>
      </p:sp>
      <p:pic>
        <p:nvPicPr>
          <p:cNvPr id="376" name="Google Shape;376;p29"/>
          <p:cNvPicPr preferRelativeResize="0"/>
          <p:nvPr/>
        </p:nvPicPr>
        <p:blipFill>
          <a:blip r:embed="rId3">
            <a:alphaModFix/>
          </a:blip>
          <a:stretch>
            <a:fillRect/>
          </a:stretch>
        </p:blipFill>
        <p:spPr>
          <a:xfrm>
            <a:off x="2825600" y="1230025"/>
            <a:ext cx="3492810" cy="32408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0"/>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RED NEURONAL CONVOLUCIONAL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Definici</a:t>
            </a:r>
            <a:r>
              <a:rPr lang="es"/>
              <a:t>ón</a:t>
            </a:r>
            <a:r>
              <a:rPr lang="es"/>
              <a:t> del modelo</a:t>
            </a:r>
            <a:endParaRPr/>
          </a:p>
        </p:txBody>
      </p:sp>
      <p:pic>
        <p:nvPicPr>
          <p:cNvPr id="387" name="Google Shape;387;p31"/>
          <p:cNvPicPr preferRelativeResize="0"/>
          <p:nvPr/>
        </p:nvPicPr>
        <p:blipFill>
          <a:blip r:embed="rId3">
            <a:alphaModFix/>
          </a:blip>
          <a:stretch>
            <a:fillRect/>
          </a:stretch>
        </p:blipFill>
        <p:spPr>
          <a:xfrm>
            <a:off x="542600" y="1903975"/>
            <a:ext cx="3209799" cy="1825350"/>
          </a:xfrm>
          <a:prstGeom prst="rect">
            <a:avLst/>
          </a:prstGeom>
          <a:noFill/>
          <a:ln>
            <a:noFill/>
          </a:ln>
        </p:spPr>
      </p:pic>
      <p:pic>
        <p:nvPicPr>
          <p:cNvPr id="388" name="Google Shape;388;p31"/>
          <p:cNvPicPr preferRelativeResize="0"/>
          <p:nvPr/>
        </p:nvPicPr>
        <p:blipFill>
          <a:blip r:embed="rId4">
            <a:alphaModFix/>
          </a:blip>
          <a:stretch>
            <a:fillRect/>
          </a:stretch>
        </p:blipFill>
        <p:spPr>
          <a:xfrm>
            <a:off x="3999400" y="1513800"/>
            <a:ext cx="4741026" cy="28476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2"/>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Gráfica Pérdida y Precisión durante el Entrenamiento y Validación </a:t>
            </a:r>
            <a:endParaRPr/>
          </a:p>
        </p:txBody>
      </p:sp>
      <p:pic>
        <p:nvPicPr>
          <p:cNvPr id="394" name="Google Shape;394;p32"/>
          <p:cNvPicPr preferRelativeResize="0"/>
          <p:nvPr/>
        </p:nvPicPr>
        <p:blipFill>
          <a:blip r:embed="rId3">
            <a:alphaModFix/>
          </a:blip>
          <a:stretch>
            <a:fillRect/>
          </a:stretch>
        </p:blipFill>
        <p:spPr>
          <a:xfrm>
            <a:off x="481050" y="1750275"/>
            <a:ext cx="8181902" cy="26582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3"/>
          <p:cNvSpPr txBox="1"/>
          <p:nvPr>
            <p:ph type="title"/>
          </p:nvPr>
        </p:nvSpPr>
        <p:spPr>
          <a:xfrm>
            <a:off x="1266975" y="451250"/>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Análisis Cualitativo con Imágen de Validación</a:t>
            </a:r>
            <a:endParaRPr/>
          </a:p>
        </p:txBody>
      </p:sp>
      <p:pic>
        <p:nvPicPr>
          <p:cNvPr id="400" name="Google Shape;400;p33"/>
          <p:cNvPicPr preferRelativeResize="0"/>
          <p:nvPr/>
        </p:nvPicPr>
        <p:blipFill>
          <a:blip r:embed="rId3">
            <a:alphaModFix/>
          </a:blip>
          <a:stretch>
            <a:fillRect/>
          </a:stretch>
        </p:blipFill>
        <p:spPr>
          <a:xfrm>
            <a:off x="1266975" y="1450550"/>
            <a:ext cx="6896503" cy="33881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Matriz de Confusión</a:t>
            </a:r>
            <a:endParaRPr/>
          </a:p>
        </p:txBody>
      </p:sp>
      <p:pic>
        <p:nvPicPr>
          <p:cNvPr id="406" name="Google Shape;406;p34"/>
          <p:cNvPicPr preferRelativeResize="0"/>
          <p:nvPr/>
        </p:nvPicPr>
        <p:blipFill>
          <a:blip r:embed="rId3">
            <a:alphaModFix/>
          </a:blip>
          <a:stretch>
            <a:fillRect/>
          </a:stretch>
        </p:blipFill>
        <p:spPr>
          <a:xfrm>
            <a:off x="2868313" y="1300950"/>
            <a:ext cx="3407378" cy="32408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5"/>
          <p:cNvSpPr txBox="1"/>
          <p:nvPr>
            <p:ph type="title"/>
          </p:nvPr>
        </p:nvSpPr>
        <p:spPr>
          <a:xfrm>
            <a:off x="824000" y="1613825"/>
            <a:ext cx="61143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RED NEURONAL CONVOLUCIONAL </a:t>
            </a:r>
            <a:r>
              <a:rPr lang="es"/>
              <a:t>VGG16</a:t>
            </a:r>
            <a:r>
              <a:rPr lang="es"/>
              <a:t> AJUSTE DE HIPERPAR</a:t>
            </a:r>
            <a:r>
              <a:rPr lang="es"/>
              <a:t>Á</a:t>
            </a:r>
            <a:r>
              <a:rPr lang="es"/>
              <a:t>METROS OPTUNA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Definición del modelo</a:t>
            </a:r>
            <a:endParaRPr/>
          </a:p>
        </p:txBody>
      </p:sp>
      <p:pic>
        <p:nvPicPr>
          <p:cNvPr id="417" name="Google Shape;417;p36"/>
          <p:cNvPicPr preferRelativeResize="0"/>
          <p:nvPr/>
        </p:nvPicPr>
        <p:blipFill>
          <a:blip r:embed="rId3">
            <a:alphaModFix/>
          </a:blip>
          <a:stretch>
            <a:fillRect/>
          </a:stretch>
        </p:blipFill>
        <p:spPr>
          <a:xfrm>
            <a:off x="1053950" y="1866000"/>
            <a:ext cx="3145974" cy="1411500"/>
          </a:xfrm>
          <a:prstGeom prst="rect">
            <a:avLst/>
          </a:prstGeom>
          <a:noFill/>
          <a:ln>
            <a:noFill/>
          </a:ln>
        </p:spPr>
      </p:pic>
      <p:pic>
        <p:nvPicPr>
          <p:cNvPr id="418" name="Google Shape;418;p36"/>
          <p:cNvPicPr preferRelativeResize="0"/>
          <p:nvPr/>
        </p:nvPicPr>
        <p:blipFill>
          <a:blip r:embed="rId4">
            <a:alphaModFix/>
          </a:blip>
          <a:stretch>
            <a:fillRect/>
          </a:stretch>
        </p:blipFill>
        <p:spPr>
          <a:xfrm>
            <a:off x="4511550" y="1447277"/>
            <a:ext cx="4267201" cy="2337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Gráfica Pérdida y Precisión durante el Entrenamiento y Validación </a:t>
            </a:r>
            <a:endParaRPr/>
          </a:p>
        </p:txBody>
      </p:sp>
      <p:pic>
        <p:nvPicPr>
          <p:cNvPr id="424" name="Google Shape;424;p37"/>
          <p:cNvPicPr preferRelativeResize="0"/>
          <p:nvPr/>
        </p:nvPicPr>
        <p:blipFill>
          <a:blip r:embed="rId3">
            <a:alphaModFix/>
          </a:blip>
          <a:stretch>
            <a:fillRect/>
          </a:stretch>
        </p:blipFill>
        <p:spPr>
          <a:xfrm>
            <a:off x="549950" y="1667500"/>
            <a:ext cx="8044102" cy="26813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8"/>
          <p:cNvSpPr txBox="1"/>
          <p:nvPr>
            <p:ph type="title"/>
          </p:nvPr>
        </p:nvSpPr>
        <p:spPr>
          <a:xfrm>
            <a:off x="1266975" y="451250"/>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Análisis Cualitativo con Imágen de Validación</a:t>
            </a:r>
            <a:endParaRPr/>
          </a:p>
        </p:txBody>
      </p:sp>
      <p:pic>
        <p:nvPicPr>
          <p:cNvPr id="430" name="Google Shape;430;p38"/>
          <p:cNvPicPr preferRelativeResize="0"/>
          <p:nvPr/>
        </p:nvPicPr>
        <p:blipFill>
          <a:blip r:embed="rId3">
            <a:alphaModFix/>
          </a:blip>
          <a:stretch>
            <a:fillRect/>
          </a:stretch>
        </p:blipFill>
        <p:spPr>
          <a:xfrm>
            <a:off x="1191200" y="1378300"/>
            <a:ext cx="6969823" cy="33881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Matriz de Confusión</a:t>
            </a:r>
            <a:endParaRPr/>
          </a:p>
        </p:txBody>
      </p:sp>
      <p:pic>
        <p:nvPicPr>
          <p:cNvPr id="436" name="Google Shape;436;p39"/>
          <p:cNvPicPr preferRelativeResize="0"/>
          <p:nvPr/>
        </p:nvPicPr>
        <p:blipFill>
          <a:blip r:embed="rId3">
            <a:alphaModFix/>
          </a:blip>
          <a:stretch>
            <a:fillRect/>
          </a:stretch>
        </p:blipFill>
        <p:spPr>
          <a:xfrm>
            <a:off x="2842875" y="1360075"/>
            <a:ext cx="3458240" cy="32408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0"/>
          <p:cNvSpPr txBox="1"/>
          <p:nvPr>
            <p:ph type="title"/>
          </p:nvPr>
        </p:nvSpPr>
        <p:spPr>
          <a:xfrm>
            <a:off x="824000" y="1613825"/>
            <a:ext cx="7159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CLUSTERING: </a:t>
            </a:r>
            <a:br>
              <a:rPr lang="es"/>
            </a:br>
            <a:r>
              <a:rPr lang="es"/>
              <a:t>Gaussian Mixture Models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41"/>
          <p:cNvPicPr preferRelativeResize="0"/>
          <p:nvPr/>
        </p:nvPicPr>
        <p:blipFill>
          <a:blip r:embed="rId3">
            <a:alphaModFix/>
          </a:blip>
          <a:stretch>
            <a:fillRect/>
          </a:stretch>
        </p:blipFill>
        <p:spPr>
          <a:xfrm>
            <a:off x="1314000" y="152400"/>
            <a:ext cx="6515999" cy="4838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Conclusi</a:t>
            </a:r>
            <a:r>
              <a:rPr lang="es"/>
              <a:t>ón</a:t>
            </a:r>
            <a:endParaRPr/>
          </a:p>
        </p:txBody>
      </p:sp>
      <p:sp>
        <p:nvSpPr>
          <p:cNvPr id="452" name="Google Shape;452;p42"/>
          <p:cNvSpPr txBox="1"/>
          <p:nvPr/>
        </p:nvSpPr>
        <p:spPr>
          <a:xfrm>
            <a:off x="1082700" y="1390975"/>
            <a:ext cx="6978600" cy="133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sz="1500">
                <a:latin typeface="Maven Pro"/>
                <a:ea typeface="Maven Pro"/>
                <a:cs typeface="Maven Pro"/>
                <a:sym typeface="Maven Pro"/>
              </a:rPr>
              <a:t>En conclusión, se tiene que los modelos con mejor desempeño son el CNN y el CNN con VGG16. A pesar de tener métricas similares, el modelo de CNN con VGG16 visualmente tiene un desempeño superior al CNN simple. A partir de este modelo se realizó un GMM cluster para priorizar el cuidado de la zonas menos pobladas.</a:t>
            </a:r>
            <a:endParaRPr/>
          </a:p>
        </p:txBody>
      </p:sp>
      <p:pic>
        <p:nvPicPr>
          <p:cNvPr id="453" name="Google Shape;453;p42"/>
          <p:cNvPicPr preferRelativeResize="0"/>
          <p:nvPr/>
        </p:nvPicPr>
        <p:blipFill>
          <a:blip r:embed="rId3">
            <a:alphaModFix/>
          </a:blip>
          <a:stretch>
            <a:fillRect/>
          </a:stretch>
        </p:blipFill>
        <p:spPr>
          <a:xfrm>
            <a:off x="365250" y="2428625"/>
            <a:ext cx="2617550" cy="2617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